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 everyone. I am Amar from the BeNeLux team. Today I want to share something I built to solve a problem we all face — how to manage a growing portfolio without drowning.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Raise your hand if this feels familiar. You open your laptop Monday morning and you have cases from 4 customers, 3 health events, 2 emails asking for updates, a cadence call in 2 hours that you have not prepped for. Where do you start? This is the problem. We all face it. Especially now with EOP customers joining Enterprise.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built three things that work together. First, a portfolio dashboard — one page, all your customers, everything you need to know. Second, AI workflows that do the boring stuff — prep your cadence calls, check your health events, rank your priorities. Third, a framework that tells you how much time each customer tier actually needs. Let me show you how it works in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let me show you this live. I will walk you through what my actual morning looks like. This takes me about 5 minutes before I start my day. [SWITCH TO BROWSER - open tam-portfolio-dashboard.html]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version one. It is an MVP. I want your feedback on what is useful, what is confusing, what you would add. Everything runs on your local machine — no approvals needed. If you want to try it or build your own version, come talk to me after. I am happy to walk you through the setup. Please also fill in the survey — it takes 30 seconds and helps me prioritize what to build next. Thank you!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icon_rocke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06240" y="7315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the TAM Day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Workflows for Portfolio Scale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3383280"/>
            <a:ext cx="274320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 Kutwal | TAM, BeNeLux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Summit 2026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10" name="Image 1" descr="artifacts/aws_logo_white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4663440"/>
            <a:ext cx="640080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9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2026, Amazon Web Services, Inc. or its affiliates.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All Know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●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8-12 customers, each with 8% time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(~3-4 hours per customer per week)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marL="342900" indent="-342900">
              <a:lnSpc>
                <a:spcPts val="2000"/>
              </a:lnSpc>
              <a:buSzPct val="100000"/>
              <a:buChar char="●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Cases, health events, SSPs, cadence calls,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emails, Slack — all scattered across tools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marL="342900" indent="-342900">
              <a:lnSpc>
                <a:spcPts val="2000"/>
              </a:lnSpc>
              <a:buSzPct val="100000"/>
              <a:buChar char="●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question: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b="1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do I start today?"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marL="342900" indent="-342900">
              <a:lnSpc>
                <a:spcPts val="2000"/>
              </a:lnSpc>
              <a:buSzPct val="100000"/>
              <a:buChar char="●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portfolio = more context switching,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things falling through cracks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0" y="1371600"/>
            <a:ext cx="2743200" cy="2926080"/>
          </a:xfrm>
          <a:prstGeom prst="roundRect">
            <a:avLst>
              <a:gd name="adj" fmla="val 5000"/>
            </a:avLst>
          </a:prstGeom>
          <a:solidFill>
            <a:srgbClr val="1A3A4A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0" y="16459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943600" y="29260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3-4 hrs per customer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week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3657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ALL you get.</a:t>
            </a:r>
            <a:endParaRPr lang="en-US" sz="1100" dirty="0"/>
          </a:p>
        </p:txBody>
      </p:sp>
      <p:pic>
        <p:nvPicPr>
          <p:cNvPr id="8" name="Image 0" descr="artifacts/aws_logo_dar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320" y="4663440"/>
            <a:ext cx="640080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9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2026, Amazon Web Services, Inc. or its affiliates.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product — a practical workflow any TAM can replicate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pic>
        <p:nvPicPr>
          <p:cNvPr id="5" name="Image 0" descr="icon_dashboar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5840" y="17830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Dashboard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645920" y="2103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page, all customers,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46320" y="146304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pic>
        <p:nvPicPr>
          <p:cNvPr id="9" name="Image 1" descr="icon_brain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20640" y="178308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76072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760720" y="2103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Auto-prep your day,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your priorities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31520" y="310896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pic>
        <p:nvPicPr>
          <p:cNvPr id="13" name="Image 2" descr="icon_clock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840" y="34290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4592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Framework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645920" y="3749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exactly how much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customer needs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846320" y="310896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pic>
        <p:nvPicPr>
          <p:cNvPr id="17" name="Image 3" descr="icon_users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20640" y="342900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76072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to 8-12 CX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760720" y="3749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portfolio without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drowning</a:t>
            </a:r>
            <a:endParaRPr lang="en-US" sz="1100" dirty="0"/>
          </a:p>
        </p:txBody>
      </p:sp>
      <p:pic>
        <p:nvPicPr>
          <p:cNvPr id="20" name="Image 4" descr="artifacts/aws_logo_dark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4320" y="4663440"/>
            <a:ext cx="640080" cy="38404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9728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9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2026, Amazon Web Services, Inc. or its affiliates.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A Morning in 5 Minutes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2860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887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dashboard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portfolio health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55648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755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needs attention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755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Auto-ranked priorities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322576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3225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engagement gaps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3225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have I not talked to?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889504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889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for next call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889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Topics, history, actions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456432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456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things done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3456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Comms handled, tracked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if needed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sections collapsed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86000" y="4572000"/>
            <a:ext cx="4572000" cy="365760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228600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to live demo now...</a:t>
            </a:r>
            <a:endParaRPr lang="en-US" sz="1200" dirty="0"/>
          </a:p>
        </p:txBody>
      </p:sp>
      <p:pic>
        <p:nvPicPr>
          <p:cNvPr id="24" name="Image 0" descr="artifacts/aws_logo_whit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320" y="4663440"/>
            <a:ext cx="640080" cy="38404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9728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9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2026, Amazon Web Services, Inc. or its affiliates.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buSzPct val="100000"/>
              <a:buChar char="●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MVP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feedback shapes what comes next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marL="342900" indent="-342900">
              <a:lnSpc>
                <a:spcPts val="1900"/>
              </a:lnSpc>
              <a:buSzPct val="100000"/>
              <a:buChar char="●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 on your machine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approvals, no new tools to install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marL="342900" indent="-342900">
              <a:lnSpc>
                <a:spcPts val="1900"/>
              </a:lnSpc>
              <a:buSzPct val="100000"/>
              <a:buChar char="●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Amazon Quick + custom workflows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Tool-agnostic approach — use what works for you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marL="342900" indent="-342900">
              <a:lnSpc>
                <a:spcPts val="1900"/>
              </a:lnSpc>
              <a:buSzPct val="100000"/>
              <a:buChar char="●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to try?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talk to me after this session!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760720" y="1188720"/>
            <a:ext cx="2926080" cy="3657600"/>
          </a:xfrm>
          <a:prstGeom prst="roundRect">
            <a:avLst>
              <a:gd name="adj" fmla="val 4688"/>
            </a:avLst>
          </a:prstGeom>
          <a:solidFill>
            <a:srgbClr val="1A3A4A"/>
          </a:solidFill>
          <a:ln/>
        </p:spPr>
      </p:sp>
      <p:sp>
        <p:nvSpPr>
          <p:cNvPr id="5" name="Text 3"/>
          <p:cNvSpPr/>
          <p:nvPr/>
        </p:nvSpPr>
        <p:spPr>
          <a:xfrm>
            <a:off x="5760720" y="13716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Feedback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0" y="1920240"/>
            <a:ext cx="146304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pic>
        <p:nvPicPr>
          <p:cNvPr id="7" name="Image 0" descr="artifacts/survey_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103120"/>
            <a:ext cx="1463040" cy="1463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760720" y="3657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pulse.aws/survey/G0SHQ5YP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60720" y="4023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30 seconds</a:t>
            </a:r>
            <a:endParaRPr lang="en-US" sz="1000" dirty="0"/>
          </a:p>
        </p:txBody>
      </p:sp>
      <p:pic>
        <p:nvPicPr>
          <p:cNvPr id="10" name="Image 1" descr="artifacts/aws_logo_dark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320" y="4663440"/>
            <a:ext cx="640080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9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2026, Amazon Web Services, Inc. or its affiliates.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Automating the TAM Day: Custom Workflows for Portfolio Scale</dc:title>
  <dc:subject>PptxGenJS Presentation</dc:subject>
  <dc:creator>Amar Kutwal</dc:creator>
  <cp:lastModifiedBy>Amar Kutwal</cp:lastModifiedBy>
  <cp:revision>1</cp:revision>
  <dcterms:created xsi:type="dcterms:W3CDTF">2026-06-08T13:25:45Z</dcterms:created>
  <dcterms:modified xsi:type="dcterms:W3CDTF">2026-06-08T13:25:45Z</dcterms:modified>
</cp:coreProperties>
</file>